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0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458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3A8F">
              <a:alpha val="30000"/>
            </a:srgbClr>
          </a:solidFill>
          <a:ln w="12700">
            <a:solidFill>
              <a:srgbClr val="1A3A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InfoGenie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Autonomous Marketing Platform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$100M+ SaaS — Stage-by-Stage Build Plan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2121408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85616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785616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9824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449824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14032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114032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CONFIDENTIAL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681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infogenie.ai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OVERVIEW — 5 PHASES TO MARKET LEADERSHIP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412480" cy="73152"/>
          </a:xfrm>
          <a:prstGeom prst="rect">
            <a:avLst/>
          </a:prstGeom>
          <a:solidFill>
            <a:srgbClr val="CBD5F0"/>
          </a:solidFill>
          <a:ln w="12700">
            <a:solidFill>
              <a:srgbClr val="CBD5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" y="777240"/>
            <a:ext cx="1463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667512" y="777240"/>
            <a:ext cx="14630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67512" y="777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069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1353312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prove people will pay. First 50 paying users.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94460" y="2011680"/>
            <a:ext cx="0" cy="914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67512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1031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2743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04872" y="777240"/>
            <a:ext cx="1463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2404872" y="777240"/>
            <a:ext cx="14630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2404872" y="777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04872" y="1069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41448" y="1353312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core product: competitor analysis + AI campaign generator.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31820" y="2011680"/>
            <a:ext cx="0" cy="9144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2404872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210312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4805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42232" y="777240"/>
            <a:ext cx="1463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142232" y="777240"/>
            <a:ext cx="14630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142232" y="777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42232" y="1069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78808" y="1353312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 platform APIs. AI launches &amp; A/B tests campaigns.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69180" y="2011680"/>
            <a:ext cx="0" cy="9144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142232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1031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2179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79592" y="777240"/>
            <a:ext cx="1463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5879592" y="777240"/>
            <a:ext cx="14630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5879592" y="777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Intel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79592" y="1069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16168" y="1353312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moat. Autonomous optimization. 1,000+ customers.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06540" y="2011680"/>
            <a:ext cx="0" cy="914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5879592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Intel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55280" y="21031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79552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16952" y="777240"/>
            <a:ext cx="1463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7616952" y="777240"/>
            <a:ext cx="14630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7616952" y="777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16952" y="1069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11–12+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53528" y="1353312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Full-funnel platform. Expand verticals. Path to $10M ARR.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343900" y="2011680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7616952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37160" y="3108960"/>
            <a:ext cx="8869680" cy="1691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274320" y="3127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MRR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274320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01168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01168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 MRR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2011680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74904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74904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MRR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3749040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users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MRR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86400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22376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2376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$830K MRR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223760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ARR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MARKET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  ·  Budget: $5,000–$10,000  ·  Goal: 50 Paying 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2834640" cy="3154680"/>
          </a:xfrm>
          <a:prstGeom prst="rect">
            <a:avLst/>
          </a:prstGeom>
          <a:solidFill>
            <a:srgbClr val="0D1B40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28600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dashboard (Next.js)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URL input form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web scraper (BeautifulSoup)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 improvement via OpenAI API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campaign recommendations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analysis output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834640" cy="3154680"/>
          </a:xfrm>
          <a:prstGeom prst="rect">
            <a:avLst/>
          </a:prstGeom>
          <a:solidFill>
            <a:srgbClr val="0D1B40">
              <a:alpha val="70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8346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200400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12140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&amp; fintech marketers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agencies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marketers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growth teams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startup founders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LinkedIn outreach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2834640" cy="3154680"/>
          </a:xfrm>
          <a:prstGeom prst="rect">
            <a:avLst/>
          </a:prstGeom>
          <a:solidFill>
            <a:srgbClr val="0D1B40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2834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12140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 users validated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$299/month starter pricing tested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feedback collected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pain points confirmed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proven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$10K MRR achieved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Do NOT build everything at once. The goal of Phase 1 is to prove demand — one killer feature beats ten half-built 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228600" y="1371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28600" y="137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MVP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  ·  Budget: $15,000–$25,000  ·  Goal: First Sellable 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28600" y="114300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149047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competitor websites with Scrapy &amp; Playwright. Extract headlines, offers, CTAs, pricing, funnels, and landing page structures. Store in PostgreSQL.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331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228600" y="233172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228600" y="23317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" y="2679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Semrush API &amp; SimilarWeb API. Extract ranking keywords, search volume, estimated traffic, and PPC data for all competitor domains.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520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228600" y="352044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28600" y="352044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Campaign Generator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386791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competitors + country + budget. OpenAI LLM outputs campaign strategy, ad copy, target audiences, and landing page recommendations.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663440" y="114300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38928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Creative Analyzer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149047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Meta Ads Library, Google Ads Transparency &amp; TikTok Creative Center. Detect active ads, messaging patterns, and creative formats.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4663440" y="233172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4663440" y="23317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38928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38928" y="2679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React/Next.js dashboard showing competitor insights, keyword rankings, AI recommendations, and campaign blueprints.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+ FastAPI  ·  PostgreSQL  ·  React / Next.js  ·  OpenAI API  ·  Semrush API  ·  SimilarWeb API  ·  AWS / Vercel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CAMPAIGN AUTOMATION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261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  ·  Budget: $10,000–$15,000  ·  Goal: AI Launches &amp; Optimizes Campaigns Autonomously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150876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228600" y="17830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217170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965960" y="1783080"/>
            <a:ext cx="15087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965960" y="17830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Campaign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17170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703320" y="1783080"/>
            <a:ext cx="15087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703320" y="17830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17170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5440680" y="1783080"/>
            <a:ext cx="15087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440680" y="17830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17170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7178040" y="1783080"/>
            <a:ext cx="15087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178040" y="17830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2743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 TO BUILD IN PHASE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154680"/>
            <a:ext cx="2834640" cy="713232"/>
          </a:xfrm>
          <a:prstGeom prst="rect">
            <a:avLst/>
          </a:prstGeom>
          <a:solidFill>
            <a:srgbClr val="0D1B40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38328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447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creation, keyword bids, conversion tracking, budget management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834640" cy="713232"/>
          </a:xfrm>
          <a:prstGeom prst="rect">
            <a:avLst/>
          </a:prstGeom>
          <a:solidFill>
            <a:srgbClr val="0D1B40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310128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0128" y="3447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 ads, audience targeting, creative A/B 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3154680"/>
            <a:ext cx="2834640" cy="713232"/>
          </a:xfrm>
          <a:prstGeom prst="rect">
            <a:avLst/>
          </a:prstGeom>
          <a:solidFill>
            <a:srgbClr val="0D1B40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6281928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81928" y="3447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automation, creative testing, audience segments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959352"/>
            <a:ext cx="2834640" cy="713232"/>
          </a:xfrm>
          <a:prstGeom prst="rect">
            <a:avLst/>
          </a:prstGeom>
          <a:solidFill>
            <a:srgbClr val="0D1B40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338328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" y="4251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creative variant generation, statistical significance detection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959352"/>
            <a:ext cx="2834640" cy="713232"/>
          </a:xfrm>
          <a:prstGeom prst="rect">
            <a:avLst/>
          </a:prstGeom>
          <a:solidFill>
            <a:srgbClr val="0D1B40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3310128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4251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CTR, CPA, ROAS tracking with threshold-based alerts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3959352"/>
            <a:ext cx="2834640" cy="713232"/>
          </a:xfrm>
          <a:prstGeom prst="rect">
            <a:avLst/>
          </a:prstGeom>
          <a:solidFill>
            <a:srgbClr val="0D1B40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6281928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Optimizer (v1)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81928" y="4251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reinforcement model to pause bad ads and scale winners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228600" y="1371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28600" y="137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INTELLIGENCE &amp; BUILD THE DATA MOAT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71323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7–10  ·  Budget: $10,000–$15,000  ·  Goal: 1,000 Customers / $200K MRR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41605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28600" y="1143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554480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11480" y="15544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Ad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783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ad libraries continuously. Detect new ads within hours.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130552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11480" y="21305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Monitor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359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competitor site changes — pricing, offers, CTAs — and alert users.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706624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1148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Trend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ranking tracking. Surface rising keywords before competitors.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282696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11480" y="32826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Trend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511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visual/messaging patterns across thousands of ads.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3858768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11480" y="38587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Optimizer v2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0873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model adjusts bids, audiences &amp; creatives without human input.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143000"/>
            <a:ext cx="4297680" cy="3291840"/>
          </a:xfrm>
          <a:prstGeom prst="rect">
            <a:avLst/>
          </a:prstGeom>
          <a:solidFill>
            <a:srgbClr val="0D1B4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617720" y="11704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 STRATEGY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53619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709160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1527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Campaign Automation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38928" y="1719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run campaigns through InfoGenie's platform directly.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13055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4709160" y="2130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38928" y="21214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Performance Data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38928" y="23134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yields: CTR, CPA, ROAS, creative performance data.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72491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70916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38928" y="2715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Proprietary Models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38928" y="29077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industry patterns no competitor can replicate without the same data.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31927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709160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38928" y="3310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Industry Benchmarks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38928" y="35021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intelligence authority in fintech marketing.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3950208"/>
            <a:ext cx="4297680" cy="47548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4663440" y="39593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More Users → More Data → Better AI → More Users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1,000 customers  ·  $200K MRR  ·  Valuation: $20M–$30M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&amp; EXPAND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1261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11–12+  ·  Goal: $10M ARR  ·  Valuation: $80M–$150M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55648"/>
            <a:ext cx="2834640" cy="1170432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28600" y="1755648"/>
            <a:ext cx="2834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28600" y="17556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integration, email automation, WhatsApp/Telegram bots, lead qualification AI, demo booking.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755648"/>
            <a:ext cx="2834640" cy="1170432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200400" y="1755648"/>
            <a:ext cx="283464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200400" y="17556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Multi-Vertical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intelligence models for crypto, e-commerce, SaaS, online education, and iGaming.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755648"/>
            <a:ext cx="2834640" cy="1170432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172200" y="1755648"/>
            <a:ext cx="283464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172200" y="17556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White-Label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0312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rebrand InfoGenie for clients. Each agency brings 10–50 accounts instantly.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81528"/>
            <a:ext cx="2834640" cy="1170432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228600" y="3081528"/>
            <a:ext cx="283464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228600" y="30815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42900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brands access raw intelligence data and autonomous campaign management via API.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3081528"/>
            <a:ext cx="2834640" cy="1170432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3200400" y="3081528"/>
            <a:ext cx="283464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3200400" y="30815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42900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 AI that manages the entire marketing operation — strategy to execution to optimization.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081528"/>
            <a:ext cx="2834640" cy="1170432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6172200" y="3081528"/>
            <a:ext cx="28346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6172200" y="30815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 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342900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ads indexed. The world's most comprehensive competitive marketing intelligence library.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The AI Autonomous Growth Platform — Input competitors + budget → Output full campaigns, launched &amp; optimized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— THE FULL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530352"/>
          </a:xfrm>
          <a:prstGeom prst="rect">
            <a:avLst/>
          </a:prstGeom>
          <a:solidFill>
            <a:srgbClr val="7C3AED">
              <a:alpha val="9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74320" y="813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941832"/>
            <a:ext cx="36576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2450592" y="83210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Crawlers (Scrapy, Playwright)  ·  SEO APIs (Semrush, SimilarWeb)  ·  Ad Libraries (Meta, Google, TikTok)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8686800" cy="530352"/>
          </a:xfrm>
          <a:prstGeom prst="rect">
            <a:avLst/>
          </a:prstGeom>
          <a:solidFill>
            <a:srgbClr val="2563EB">
              <a:alpha val="90000"/>
            </a:srgbClr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74320" y="14538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1581912"/>
            <a:ext cx="36576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450592" y="147218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Deduplication  ·  Feature Extraction  ·  Campaign Tag Detection  ·  Keyword Parsing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057400"/>
            <a:ext cx="8686800" cy="530352"/>
          </a:xfrm>
          <a:prstGeom prst="rect">
            <a:avLst/>
          </a:prstGeom>
          <a:solidFill>
            <a:srgbClr val="0EA5E9">
              <a:alpha val="90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274320" y="20939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221992"/>
            <a:ext cx="36576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2450592" y="21122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(structured)  ·  Redis (real-time cache)  ·  Pinecone / Weaviate (vector embeddings)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697480"/>
            <a:ext cx="8686800" cy="530352"/>
          </a:xfrm>
          <a:prstGeom prst="rect">
            <a:avLst/>
          </a:prstGeom>
          <a:solidFill>
            <a:srgbClr val="10B981">
              <a:alpha val="9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274320" y="27340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862072"/>
            <a:ext cx="36576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450592" y="275234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 Model  ·  Creative Generator  ·  Campaign Strategy Model  ·  RL Optimizer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337560"/>
            <a:ext cx="8686800" cy="530352"/>
          </a:xfrm>
          <a:prstGeom prst="rect">
            <a:avLst/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74320" y="33741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AUTOMATION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3502152"/>
            <a:ext cx="36576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2450592" y="339242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API  ·  Meta Ads API  ·  TikTok Ads API  ·  CRM / Email / WhatsApp Integrations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977640"/>
            <a:ext cx="8686800" cy="530352"/>
          </a:xfrm>
          <a:prstGeom prst="rect">
            <a:avLst/>
          </a:prstGeom>
          <a:solidFill>
            <a:srgbClr val="0EA5E9">
              <a:alpha val="90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274320" y="4014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31720" y="4142232"/>
            <a:ext cx="36576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450592" y="403250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Dashboard  ·  Competitor Intelligence  ·  Campaign Builder  ·  AI Marketing Chatbot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built incrementally across the 5 phases — not all at once.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228600" y="137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&amp; REVENUE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InfoGenie scales from first dollar to $10M ARR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2423160"/>
          </a:xfrm>
          <a:prstGeom prst="rect">
            <a:avLst/>
          </a:prstGeom>
          <a:solidFill>
            <a:srgbClr val="0D1B40">
              <a:alpha val="70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286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938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·  Solo Marketers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Competitor insights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7802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AI campaigns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3405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competitor URLs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743200" cy="2423160"/>
          </a:xfrm>
          <a:prstGeom prst="rect">
            <a:avLst/>
          </a:prstGeom>
          <a:solidFill>
            <a:srgbClr val="2563EB"/>
          </a:solidFill>
          <a:ln w="381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172968" y="1097280"/>
            <a:ext cx="27432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172968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72968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72968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172968" y="22585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·  Growth Teams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25420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intel + builder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79806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Campaign 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0540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URLs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17336" y="1097280"/>
            <a:ext cx="2743200" cy="2423160"/>
          </a:xfrm>
          <a:prstGeom prst="rect">
            <a:avLst/>
          </a:prstGeom>
          <a:solidFill>
            <a:srgbClr val="0D1B40">
              <a:alpha val="7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6117336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17336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17336" y="1938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·  Marketing Agencies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0216" y="22219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Multi-client accounts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247802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option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273405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 GROWTH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478731"/>
            <a:ext cx="1234440" cy="93269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274320" y="4204411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$10K/mo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5902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0" y="4401007"/>
            <a:ext cx="1234440" cy="170993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1645920" y="4126687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$30K/mo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45920" y="45902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230014"/>
            <a:ext cx="1234440" cy="341986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3017520" y="395569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$100K/mo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17520" y="45902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4012387"/>
            <a:ext cx="1234440" cy="559613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4389120" y="3738067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$200K/mo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45902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3794760"/>
            <a:ext cx="1234440" cy="77724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760720" y="352044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$830K/mo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45902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3611880"/>
            <a:ext cx="2011680" cy="1234440"/>
          </a:xfrm>
          <a:prstGeom prst="rect">
            <a:avLst/>
          </a:prstGeom>
          <a:solidFill>
            <a:srgbClr val="0D1B40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694944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$10M ARR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49440" y="3886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$80M–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949440" y="4498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286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2860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60 days — in order.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874520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8836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tech stack: Next.js frontend, FastAPI backend, PostgreSQL database, OpenAI API key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35000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28600" y="235000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35915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competitor URL crawler — extract headlines, offers, CTAs from 3 target competitor sites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825496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228600" y="28254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8346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OpenAI API — generate AI-improved ad copy from competitor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300984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228600" y="33009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31012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 — show competitor insights + AI campaign recommendations side by side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3776472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228600" y="37764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7856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 50 forex/fintech marketers on LinkedIn — offer free competitor report, convert to paid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4251960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28600" y="42519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4261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Semrush API + launch Phase 2 with full keyword intelligence and campaign generator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real. The market is ready. The gap exists. Build InfoGenie.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1356</Words>
  <Application>Microsoft Office PowerPoint</Application>
  <PresentationFormat>On-screen Show (16:9)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InfoGenie — Development Roadmap</dc:title>
  <dc:subject>PptxGenJS Presentation</dc:subject>
  <dc:creator>PptxGenJS</dc:creator>
  <cp:lastModifiedBy>Paul Venter</cp:lastModifiedBy>
  <cp:revision>1</cp:revision>
  <dcterms:created xsi:type="dcterms:W3CDTF">2026-03-10T09:12:03Z</dcterms:created>
  <dcterms:modified xsi:type="dcterms:W3CDTF">2026-03-26T08:15:08Z</dcterms:modified>
</cp:coreProperties>
</file>